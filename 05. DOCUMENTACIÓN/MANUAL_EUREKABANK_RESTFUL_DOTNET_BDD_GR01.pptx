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6ebd29bb-113f-ac07-1e14-59d694283f86}">
          <p14:sldIdLst>
            <p14:sldId id="256"/>
          </p14:sldIdLst>
        </p14:section>
        <p14:section name="Solución" id="{b0cdafd7-c78a-e5b2-b5b3-0151bd9f8738}">
          <p14:sldIdLst>
            <p14:sldId id="257"/>
            <p14:sldId id="258"/>
            <p14:sldId id="259"/>
            <p14:sldId id="260"/>
            <p14:sldId id="261"/>
          </p14:sldIdLst>
        </p14:section>
        <p14:section name="Datos" id="{ad8fbec0-7a93-4f46-f377-9741c09d89fc}">
          <p14:sldIdLst>
            <p14:sldId id="262"/>
            <p14:sldId id="263"/>
            <p14:sldId id="264"/>
          </p14:sldIdLst>
        </p14:section>
        <p14:section name="Clientes" id="{961e7744-b63e-5eed-9d69-0a6f6eccb0f1}">
          <p14:sldIdLst>
            <p14:sldId id="265"/>
            <p14:sldId id="266"/>
            <p14:sldId id="267"/>
            <p14:sldId id="268"/>
            <p14:sldId id="269"/>
          </p14:sldIdLst>
        </p14:section>
        <p14:section name="Calidad" id="{7916c0c0-c3e0-aca7-8505-c2ddade729a3}">
          <p14:sldIdLst>
            <p14:sldId id="270"/>
            <p14:sldId id="271"/>
          </p14:sldIdLst>
        </p14:section>
        <p14:section name="Cierre" id="{c0edfdbc-71a9-2d07-65e4-499745da3ca4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TG.1.4: EurekaBank con un API REST en .NET, base de datos SQL Server y cuatro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del banco y el acceso a datos están solo en el servidor; los clientes solo presentan.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niveles: clientes, API REST y base de datos. Ningún cliente toca SQL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bajo /api/eurekabank/. Errores: código HTTP con ErrorServicio { codigo, mensaje } en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Petición JSON, respuesta correcta y respuesta 409 cuando no alcanza el saldo.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login entrega un token de 30 min; cada cliente se identifica con X-Cliente y el panel lo muestra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del Ing. Eric Coronel; el servicio usa 7 de las 13 tablas.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ConexionBD lee Web.config una vez; cada operación abre su conexión del pool. Las operaciones de dinero son atómicas.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decisión responde a un riesgo concreto de un sistema bancario.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más simple: comprueba que el servicio y la base responden.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ClienteEureka es el mismo de la consola.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diseño que el escritorio; en celular el menú pasa arriba.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móvil llama al API con HttpClient y muestra el mensaje del JSON de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servidor se publica en IIS (puerto 8088) y los clientes apuntan a la IP de Wi-Fi de esa 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en el ECUD: actores, flujos básicos y alternos.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la base recién creada; capturas de cada cliente en 05. DOCUMENTACIÓN/capturas.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82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82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 · Arquitectura de Software · EurekaBank RESTful .NET con SQL Server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ignia $"/>
          <p:cNvSpPr/>
          <p:nvPr/>
        </p:nvSpPr>
        <p:spPr>
          <a:xfrm>
            <a:off x="731520" y="731520"/>
            <a:ext cx="1005840" cy="100584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868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· ARQUITECTURA DE SOFTWARE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2344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TG.1.2 · PAO 2026-51 · NRC 36884 · Grupo 1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EurekaBank · RESTful .NET con SQL Server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(JSON) para consultar cuentas y registrar depósitos, retiros y transferencias, con clientes de consola, escritorio, web y móvil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Wilmer Buestan · Jefferson Masapanta · Moises Benalcazar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Eduardo Mauricio Campaña Ortega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04/11/2026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servicio, una base de datos, cuatro clientes</a:t>
            </a:r>
            <a:endParaRPr lang="en-US" sz="3400" dirty="0"/>
          </a:p>
        </p:txBody>
      </p:sp>
      <p:sp>
        <p:nvSpPr>
          <p:cNvPr id="4" name="Cifra 8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926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sesión, 2 consultas,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transacciones y monitor</a:t>
            </a:r>
            <a:endParaRPr lang="en-US" sz="1500" dirty="0"/>
          </a:p>
        </p:txBody>
      </p:sp>
      <p:sp>
        <p:nvSpPr>
          <p:cNvPr id="7" name="Cifra 4"/>
          <p:cNvSpPr/>
          <p:nvPr/>
        </p:nvSpPr>
        <p:spPr>
          <a:xfrm>
            <a:off x="3364992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64992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3502152" y="2926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consola,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escritorio, web y móvil</a:t>
            </a:r>
            <a:endParaRPr lang="en-US" sz="1500" dirty="0"/>
          </a:p>
        </p:txBody>
      </p:sp>
      <p:sp>
        <p:nvSpPr>
          <p:cNvPr id="10" name="Cifra 13"/>
          <p:cNvSpPr/>
          <p:nvPr/>
        </p:nvSpPr>
        <p:spPr>
          <a:xfrm>
            <a:off x="6181344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1344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600" dirty="0"/>
          </a:p>
        </p:txBody>
      </p:sp>
      <p:sp>
        <p:nvSpPr>
          <p:cNvPr id="12" name="Text 9"/>
          <p:cNvSpPr txBox="1"/>
          <p:nvPr/>
        </p:nvSpPr>
        <p:spPr>
          <a:xfrm>
            <a:off x="6318504" y="2926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SQL Server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(modelo EurekaBank)</a:t>
            </a:r>
            <a:endParaRPr lang="en-US" sz="1500" dirty="0"/>
          </a:p>
        </p:txBody>
      </p:sp>
      <p:sp>
        <p:nvSpPr>
          <p:cNvPr id="13" name="Cifra 1"/>
          <p:cNvSpPr/>
          <p:nvPr/>
        </p:nvSpPr>
        <p:spPr>
          <a:xfrm>
            <a:off x="8997696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97696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600" dirty="0"/>
          </a:p>
        </p:txBody>
      </p:sp>
      <p:sp>
        <p:nvSpPr>
          <p:cNvPr id="15" name="Text 12"/>
          <p:cNvSpPr txBox="1"/>
          <p:nvPr/>
        </p:nvSpPr>
        <p:spPr>
          <a:xfrm>
            <a:off x="9134856" y="2926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acceso a datos: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ConexionBD (Singleton)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cuentas de ahorro reales en SQL Server desde cualquier plataforma, con transacciones que mantienen siempre el saldo igual a sus movimientos.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3400" dirty="0"/>
          </a:p>
        </p:txBody>
      </p:sp>
      <p:pic>
        <p:nvPicPr>
          <p:cNvPr id="4" name="Diagrama de arquitectura" descr="Diagrama de arquit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054" y="1234440"/>
            <a:ext cx="5636611" cy="4983480"/>
          </a:xfrm>
          <a:prstGeom prst="rect">
            <a:avLst/>
          </a:prstGeom>
        </p:spPr>
      </p:pic>
      <p:sp>
        <p:nvSpPr>
          <p:cNvPr id="5" name="Insignia 1"/>
          <p:cNvSpPr/>
          <p:nvPr/>
        </p:nvSpPr>
        <p:spPr>
          <a:xfrm>
            <a:off x="7863840" y="1417320"/>
            <a:ext cx="548640" cy="54864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863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JSON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1737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API 2 en IIS :8088 + panel</a:t>
            </a:r>
            <a:endParaRPr lang="en-US" sz="1400" dirty="0"/>
          </a:p>
        </p:txBody>
      </p:sp>
      <p:sp>
        <p:nvSpPr>
          <p:cNvPr id="9" name="Insignia 2"/>
          <p:cNvSpPr/>
          <p:nvPr/>
        </p:nvSpPr>
        <p:spPr>
          <a:xfrm>
            <a:off x="7863840" y="2606040"/>
            <a:ext cx="548640" cy="5486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638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ec.edu.monster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modelo · servicio · ws</a:t>
            </a:r>
            <a:endParaRPr lang="en-US" sz="1400" dirty="0"/>
          </a:p>
        </p:txBody>
      </p:sp>
      <p:sp>
        <p:nvSpPr>
          <p:cNvPr id="13" name="Insignia 3"/>
          <p:cNvSpPr/>
          <p:nvPr/>
        </p:nvSpPr>
        <p:spPr>
          <a:xfrm>
            <a:off x="7863840" y="3794760"/>
            <a:ext cx="548640" cy="5486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59536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EUREKABANK con el login monster</a:t>
            </a:r>
            <a:endParaRPr lang="en-US" sz="1400" dirty="0"/>
          </a:p>
        </p:txBody>
      </p:sp>
      <p:sp>
        <p:nvSpPr>
          <p:cNvPr id="17" name="Insignia 4"/>
          <p:cNvSpPr/>
          <p:nvPr/>
        </p:nvSpPr>
        <p:spPr>
          <a:xfrm>
            <a:off x="7863840" y="4983480"/>
            <a:ext cx="548640" cy="5486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8638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59536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UPDLOCK + COMMIT / ROLLBACK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endpoints del API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828800"/>
                <a:gridCol w="41605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Endpoint REST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Devuelve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 la base de datos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POST login { usuario, clave }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Empleado + token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SELECT Empleado · token de 30 min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POST logout (Bearer)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{ cerrada }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— (invalida el token)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GET cuenta?numero=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Cuenta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Cuenta + Cliente + Moneda + Sucursal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GET movimientos?cuenta=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Movimiento[]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Movimiento + TipoMovimiento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POST deposito { cuenta, importe, codEmpleado }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{ cuenta, saldo }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UPDATE Cuenta · INSERT 003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POST retiro { cuenta, importe, codEmpleado }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{ cuenta, saldo }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valida saldo · UPDATE · INSERT 004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POST transferencia { origen, destino, importe, … }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{ cuenta, saldo }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misma moneda · INSERT 009 y 008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GET estado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EstadoServidor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</a:rPr>
                        <a:t>— (métricas del monitor)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206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en las operaciones bancarias · 400 VALOR_INVALIDO · 401 SESION_INVALIDA · 409 REGLA_NEGOCIO · 503 ERROR_BD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6235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8 dígitos · importe &gt; 0, máximo 2 decimales y hasta 1 000 000 · cuenta ACTIVO · saldo suficiente · misma moneda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viaja un retiro por REST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</a:t>
            </a:r>
            <a:endParaRPr lang="en-US" sz="1800" dirty="0"/>
          </a:p>
        </p:txBody>
      </p:sp>
      <p:sp>
        <p:nvSpPr>
          <p:cNvPr id="5" name="Caja petición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737360"/>
            <a:ext cx="5303520" cy="40233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/api/eurekabank/retiro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9f2c…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X-Cliente: CONSOLA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"cuenta": "00100001",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"importe": 0.50,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"codEmpleado": "0012"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800" dirty="0"/>
          </a:p>
        </p:txBody>
      </p:sp>
      <p:sp>
        <p:nvSpPr>
          <p:cNvPr id="8" name="Caja respuesta"/>
          <p:cNvSpPr/>
          <p:nvPr/>
        </p:nvSpPr>
        <p:spPr>
          <a:xfrm>
            <a:off x="6400800" y="164592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"cuenta": "00100001",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"saldo": 7000.0000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246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Conflict (importe 50000)</a:t>
            </a:r>
            <a:endParaRPr lang="en-US" sz="1800" dirty="0"/>
          </a:p>
        </p:txBody>
      </p:sp>
      <p:sp>
        <p:nvSpPr>
          <p:cNvPr id="11" name="Caja error"/>
          <p:cNvSpPr/>
          <p:nvPr/>
        </p:nvSpPr>
        <p:spPr>
          <a:xfrm>
            <a:off x="6400800" y="365760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3749040"/>
            <a:ext cx="5029200" cy="20116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"codigo": "REGLA_NEGOCIO",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"mensaje": "Saldo insuficiente en 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cuenta 00100001. Saldo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disponible: 7,000.50."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con token, monitor y panel</a:t>
            </a:r>
            <a:endParaRPr lang="en-US" sz="3400" dirty="0"/>
          </a:p>
        </p:txBody>
      </p:sp>
      <p:sp>
        <p:nvSpPr>
          <p:cNvPr id="4" name="Insignia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GestorSesiones: 30 min renovados en cada uso; Authorization: Bearer; POST logout lo invalida</a:t>
            </a:r>
            <a:endParaRPr lang="en-US" sz="1300" dirty="0"/>
          </a:p>
        </p:txBody>
      </p:sp>
      <p:sp>
        <p:nvSpPr>
          <p:cNvPr id="8" name="Insignia 2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X-Cliente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· ESCRITORIO · WEB · MOVIL · PANEL</a:t>
            </a:r>
            <a:endParaRPr lang="en-US" sz="1300" dirty="0"/>
          </a:p>
        </p:txBody>
      </p:sp>
      <p:sp>
        <p:nvSpPr>
          <p:cNvPr id="12" name="Insignia 3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4069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MonitorServidor: peticiones por cliente, por operación y últimos 60 eventos</a:t>
            </a:r>
            <a:endParaRPr lang="en-US" sz="1300" dirty="0"/>
          </a:p>
        </p:txBody>
      </p:sp>
      <p:sp>
        <p:nvSpPr>
          <p:cNvPr id="16" name="Insignia 4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5257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http://IP:8088/ con login y pestañas Servicio y Monitoreo</a:t>
            </a:r>
            <a:endParaRPr lang="en-US" sz="1300" dirty="0"/>
          </a:p>
        </p:txBody>
      </p:sp>
      <p:sp>
        <p:nvSpPr>
          <p:cNvPr id="20" name="Marco Panel: monitoreo en tiempo real"/>
          <p:cNvSpPr/>
          <p:nvPr/>
        </p:nvSpPr>
        <p:spPr>
          <a:xfrm>
            <a:off x="4443984" y="1423606"/>
            <a:ext cx="7251192" cy="4559427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Panel: monitoreo en tiempo real" descr="Panel: monitoreo en tiempo 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60182"/>
            <a:ext cx="7178040" cy="44862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EUREKABANK</a:t>
            </a:r>
            <a:endParaRPr lang="en-US" sz="3400" dirty="0"/>
          </a:p>
        </p:txBody>
      </p:sp>
      <p:sp>
        <p:nvSpPr>
          <p:cNvPr id="4" name="Marco Modelo físico"/>
          <p:cNvSpPr/>
          <p:nvPr/>
        </p:nvSpPr>
        <p:spPr>
          <a:xfrm>
            <a:off x="512064" y="1910532"/>
            <a:ext cx="7936992" cy="3631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Modelo físico" descr="Modelo fís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7108"/>
            <a:ext cx="7863840" cy="355814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0" y="137160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82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crear_bdd.ps1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Crea las tablas y restricciones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Datos de prueba + empleado monster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Login monster: solo lectura y escritura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cuentas · 38 movimientos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= ingresos − salidas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ec.edu.monster.db · Singleton y transacciones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ConexionBD (Singleton)</a:t>
            </a:r>
            <a:endParaRPr lang="en-US" sz="1800" dirty="0"/>
          </a:p>
        </p:txBody>
      </p:sp>
      <p:sp>
        <p:nvSpPr>
          <p:cNvPr id="5" name="Caja Singleton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737360"/>
            <a:ext cx="5303520" cy="40233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ConexionBD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readonly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Lazy&lt;ConexionBD&gt; _instancia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Lazy&lt;ConexionBD&gt;(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() =&gt; new ConexionBD());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ConexionBD Instancia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_instancia.Value;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ConexionBD() { /* Web.config */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SqlConnection AbrirConexion()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... cn.Open(); return cn;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en una transacción</a:t>
            </a:r>
            <a:endParaRPr lang="en-US" sz="1800" dirty="0"/>
          </a:p>
        </p:txBody>
      </p:sp>
      <p:sp>
        <p:nvSpPr>
          <p:cNvPr id="8" name="Insignia 1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TRANSACTION</a:t>
            </a:r>
            <a:endParaRPr lang="en-US" sz="1500" dirty="0"/>
          </a:p>
        </p:txBody>
      </p:sp>
      <p:sp>
        <p:nvSpPr>
          <p:cNvPr id="11" name="Insignia 2"/>
          <p:cNvSpPr/>
          <p:nvPr/>
        </p:nvSpPr>
        <p:spPr>
          <a:xfrm>
            <a:off x="6400800" y="2377440"/>
            <a:ext cx="457200" cy="45720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… FROM Cuenta WITH (UPDLOCK)</a:t>
            </a:r>
            <a:endParaRPr lang="en-US" sz="1500" dirty="0"/>
          </a:p>
        </p:txBody>
      </p:sp>
      <p:sp>
        <p:nvSpPr>
          <p:cNvPr id="14" name="Insignia 3"/>
          <p:cNvSpPr/>
          <p:nvPr/>
        </p:nvSpPr>
        <p:spPr>
          <a:xfrm>
            <a:off x="6400800" y="3063240"/>
            <a:ext cx="457200" cy="45720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063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¿ACTIVO? ¿saldo ≥ importe?</a:t>
            </a:r>
            <a:endParaRPr lang="en-US" sz="1500" dirty="0"/>
          </a:p>
        </p:txBody>
      </p:sp>
      <p:sp>
        <p:nvSpPr>
          <p:cNvPr id="17" name="Insignia 4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3749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Cuenta (saldo, contador + 1)</a:t>
            </a:r>
            <a:endParaRPr lang="en-US" sz="1500" dirty="0"/>
          </a:p>
        </p:txBody>
      </p:sp>
      <p:sp>
        <p:nvSpPr>
          <p:cNvPr id="20" name="Insignia 5"/>
          <p:cNvSpPr/>
          <p:nvPr/>
        </p:nvSpPr>
        <p:spPr>
          <a:xfrm>
            <a:off x="6400800" y="4434840"/>
            <a:ext cx="457200" cy="45720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Movimiento 004</a:t>
            </a:r>
            <a:endParaRPr lang="en-US" sz="1500" dirty="0"/>
          </a:p>
        </p:txBody>
      </p:sp>
      <p:sp>
        <p:nvSpPr>
          <p:cNvPr id="23" name="Insignia 6"/>
          <p:cNvSpPr/>
          <p:nvPr/>
        </p:nvSpPr>
        <p:spPr>
          <a:xfrm>
            <a:off x="6400800" y="5120640"/>
            <a:ext cx="457200" cy="45720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5120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 ·  si falla: ROLLBACK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3400" dirty="0"/>
          </a:p>
        </p:txBody>
      </p:sp>
      <p:sp>
        <p:nvSpPr>
          <p:cNvPr id="4" name="Decisión 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1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SQL monster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entra a SQL Server con permisos mínimos; igual en IIS Express e IIS</a:t>
            </a:r>
            <a:endParaRPr lang="en-US" sz="1400" dirty="0"/>
          </a:p>
        </p:txBody>
      </p:sp>
      <p:sp>
        <p:nvSpPr>
          <p:cNvPr id="9" name="Decisión 2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Insignia 2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concatena SQL: sin inyección</a:t>
            </a:r>
            <a:endParaRPr lang="en-US" sz="1400" dirty="0"/>
          </a:p>
        </p:txBody>
      </p:sp>
      <p:sp>
        <p:nvSpPr>
          <p:cNvPr id="14" name="Decisión 3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Insignia 3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/ MONEY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Importes exactos de punta a punta, sin errores de redondeo</a:t>
            </a:r>
            <a:endParaRPr lang="en-US" sz="1400" dirty="0"/>
          </a:p>
        </p:txBody>
      </p:sp>
      <p:sp>
        <p:nvSpPr>
          <p:cNvPr id="19" name="Decisión 4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Insignia 4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ordenado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transferencia bloquea las dos cuentas por código: sin bloqueo mutuo</a:t>
            </a:r>
            <a:endParaRPr lang="en-US" sz="1400" dirty="0"/>
          </a:p>
        </p:txBody>
      </p:sp>
      <p:sp>
        <p:nvSpPr>
          <p:cNvPr id="24" name="Decisión 5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5" name="Insignia 5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25780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con código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VALOR_INVALIDO · REGLA_NEGOCIO · ERROR_BD con mensaje en español</a:t>
            </a:r>
            <a:endParaRPr lang="en-US" sz="1400" dirty="0"/>
          </a:p>
        </p:txBody>
      </p:sp>
      <p:sp>
        <p:nvSpPr>
          <p:cNvPr id="29" name="Decisión 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Insignia 6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en cada movimiento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del empleado de la sesión queda en la base de datos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 consola · CLICON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 4.7.2 · HttpClient + JSON · MVC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MONSTER · EUREKA BANK e indicador del servidor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oculta (los 3 intentos los cuenta el servidor)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en el login: cambiar IP y puerto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de cada operación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5: estado del servidor y de la sesión</a:t>
            </a:r>
            <a:endParaRPr lang="en-US" sz="1500" dirty="0"/>
          </a:p>
        </p:txBody>
      </p:sp>
      <p:sp>
        <p:nvSpPr>
          <p:cNvPr id="6" name="Marco Comprobante en la consola"/>
          <p:cNvSpPr/>
          <p:nvPr/>
        </p:nvSpPr>
        <p:spPr>
          <a:xfrm>
            <a:off x="5484114" y="1609344"/>
            <a:ext cx="507949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Comprobante en la consola" descr="Comprobante en la cons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690" y="1645920"/>
            <a:ext cx="5006340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 escritorio · CLIESC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· .NET Framework 4.7.2 · modelos get/set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con la imagen MONSTER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intentos e indicador; botón Cambiar servidor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la cuenta y gráficos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con sello APROBADO (imprimible)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sesión en la barra de estado</a:t>
            </a:r>
            <a:endParaRPr lang="en-US" sz="1500" dirty="0"/>
          </a:p>
        </p:txBody>
      </p:sp>
      <p:sp>
        <p:nvSpPr>
          <p:cNvPr id="6" name="Marco Escritorio: movimientos"/>
          <p:cNvSpPr/>
          <p:nvPr/>
        </p:nvSpPr>
        <p:spPr>
          <a:xfrm>
            <a:off x="4352544" y="2380100"/>
            <a:ext cx="5193792" cy="3103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Escritorio: movimientos" descr="Escritorio: movimi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416676"/>
            <a:ext cx="5120640" cy="3030488"/>
          </a:xfrm>
          <a:prstGeom prst="rect">
            <a:avLst/>
          </a:prstGeom>
        </p:spPr>
      </p:pic>
      <p:sp>
        <p:nvSpPr>
          <p:cNvPr id="8" name="Marco Escritorio: comprobante"/>
          <p:cNvSpPr/>
          <p:nvPr/>
        </p:nvSpPr>
        <p:spPr>
          <a:xfrm>
            <a:off x="9656064" y="2617470"/>
            <a:ext cx="2039112" cy="262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Escritorio: comprobante" descr="Escritorio: comproba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654046"/>
            <a:ext cx="1965960" cy="25557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 · CLIWEB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· .NET 8 · HttpClient + System.Text.Json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en IIS (sitio EUREKA_REST_WEB :5088)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servidor desde el login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Tarjeta, gráficos y comprobante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adaptable a celular</a:t>
            </a:r>
            <a:endParaRPr lang="en-US" sz="1500" dirty="0"/>
          </a:p>
        </p:txBody>
      </p:sp>
      <p:sp>
        <p:nvSpPr>
          <p:cNvPr id="6" name="Marco Web: comprobante"/>
          <p:cNvSpPr/>
          <p:nvPr/>
        </p:nvSpPr>
        <p:spPr>
          <a:xfrm>
            <a:off x="4352544" y="2209419"/>
            <a:ext cx="5468112" cy="344500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Web: comprobante" descr="Web: comprob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245995"/>
            <a:ext cx="5394960" cy="3371850"/>
          </a:xfrm>
          <a:prstGeom prst="rect">
            <a:avLst/>
          </a:prstGeom>
        </p:spPr>
      </p:pic>
      <p:sp>
        <p:nvSpPr>
          <p:cNvPr id="8" name="Marco Web en celular"/>
          <p:cNvSpPr/>
          <p:nvPr/>
        </p:nvSpPr>
        <p:spPr>
          <a:xfrm>
            <a:off x="9976104" y="2114374"/>
            <a:ext cx="1719072" cy="36350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Web en celular" descr="Web en celu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150950"/>
            <a:ext cx="1645920" cy="35619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 · CLIMOV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 (sucesor de Xamarin) · C# · Android · REST con HttpClient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intentos e indicador del servidor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«Servidor REST (IIS)»: IP y puerto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Tarjeta, gráficos y comprobante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y X-Cliente: MOVIL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en una tablet Samsung SM-P610 por Wi-Fi</a:t>
            </a:r>
            <a:endParaRPr lang="en-US" sz="1500" dirty="0"/>
          </a:p>
        </p:txBody>
      </p:sp>
      <p:sp>
        <p:nvSpPr>
          <p:cNvPr id="6" name="Marco Móvil en la tablet"/>
          <p:cNvSpPr/>
          <p:nvPr/>
        </p:nvSpPr>
        <p:spPr>
          <a:xfrm>
            <a:off x="5815584" y="1609344"/>
            <a:ext cx="4416552" cy="2679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Móvil en la tablet" descr="Móvil en la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45920"/>
            <a:ext cx="4343400" cy="2606040"/>
          </a:xfrm>
          <a:prstGeom prst="rect">
            <a:avLst/>
          </a:prstGeom>
        </p:spPr>
      </p:pic>
      <p:sp>
        <p:nvSpPr>
          <p:cNvPr id="8" name="Caja código móvil"/>
          <p:cNvSpPr/>
          <p:nvPr/>
        </p:nvSpPr>
        <p:spPr>
          <a:xfrm>
            <a:off x="4389120" y="4434840"/>
            <a:ext cx="7269480" cy="1783080"/>
          </a:xfrm>
          <a:prstGeom prst="roundRect">
            <a:avLst>
              <a:gd name="adj" fmla="val 5128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480560" y="4526280"/>
            <a:ext cx="7086600" cy="16002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Empleado e = await PostAsync&lt;Empleado&gt;("api/eurekabank/login",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SolicitudLogin { Usuario = u, Clave = c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_token = e.Token;   // va en Authorization: Bearer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401 / 423 -&gt; ErrorServicioException(mensaje del servidor)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red por roles</a:t>
            </a:r>
            <a:endParaRPr lang="en-US" sz="3400" dirty="0"/>
          </a:p>
        </p:txBody>
      </p:sp>
      <p:sp>
        <p:nvSpPr>
          <p:cNvPr id="4" name="Rol 1"/>
          <p:cNvSpPr/>
          <p:nvPr/>
        </p:nvSpPr>
        <p:spPr>
          <a:xfrm>
            <a:off x="54864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1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+ servidor + consola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51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Server, crear_bdd.ps1 y publicar_iis.ps1 (sitio EUREKA_REST :8088)</a:t>
            </a:r>
            <a:endParaRPr lang="en-US" sz="1500" dirty="0"/>
          </a:p>
        </p:txBody>
      </p:sp>
      <p:sp>
        <p:nvSpPr>
          <p:cNvPr id="10" name="Rol 2"/>
          <p:cNvSpPr/>
          <p:nvPr/>
        </p:nvSpPr>
        <p:spPr>
          <a:xfrm>
            <a:off x="429768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Insignia 2"/>
          <p:cNvSpPr/>
          <p:nvPr/>
        </p:nvSpPr>
        <p:spPr>
          <a:xfrm>
            <a:off x="4526280" y="1600200"/>
            <a:ext cx="640080" cy="64008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escritorio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651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en IIS (:5088, publicar_web_iis.ps1); IP del servidor desde la pantalla</a:t>
            </a:r>
            <a:endParaRPr lang="en-US" sz="1500" dirty="0"/>
          </a:p>
        </p:txBody>
      </p:sp>
      <p:sp>
        <p:nvSpPr>
          <p:cNvPr id="16" name="Rol 3"/>
          <p:cNvSpPr/>
          <p:nvPr/>
        </p:nvSpPr>
        <p:spPr>
          <a:xfrm>
            <a:off x="804672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Insignia 3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2651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real por Wi-Fi: IP y puerto en el cuadro del login</a:t>
            </a:r>
            <a:endParaRPr lang="en-US" sz="1500" dirty="0"/>
          </a:p>
        </p:txBody>
      </p:sp>
      <p:sp>
        <p:nvSpPr>
          <p:cNvPr id="22" name="Caja URL"/>
          <p:cNvSpPr/>
          <p:nvPr/>
        </p:nvSpPr>
        <p:spPr>
          <a:xfrm>
            <a:off x="548640" y="443484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4526280"/>
            <a:ext cx="10927080" cy="8686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434840"/>
            <a:ext cx="11109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2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http://IP-DEL-SERVIDOR:8088/  ·  /api/eurekabank/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6692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solo lo usa el servidor: los demás equipos no necesitan acceso a la base de datos.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3400" dirty="0"/>
          </a:p>
        </p:txBody>
      </p:sp>
      <p:pic>
        <p:nvPicPr>
          <p:cNvPr id="4" name="Diagrama de casos de uso" descr="Diagrama de casos de u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647" y="1234440"/>
            <a:ext cx="6920065" cy="4983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321040" y="1463040"/>
            <a:ext cx="3337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casos de uso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y cerrar sesión (token)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cuenta y movimientos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Depósito, retiro y transferencia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servidor (los 4 clientes)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servidor (panel)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realizadas</a:t>
            </a:r>
            <a:endParaRPr lang="en-US" sz="3400" dirty="0"/>
          </a:p>
        </p:txBody>
      </p:sp>
      <p:sp>
        <p:nvSpPr>
          <p:cNvPr id="4" name="Resumen pruebas"/>
          <p:cNvSpPr/>
          <p:nvPr/>
        </p:nvSpPr>
        <p:spPr>
          <a:xfrm>
            <a:off x="548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superados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= suma de movimientos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371600"/>
          <a:ext cx="7726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971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Login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monster / monster69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Empleado 0012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Consultar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00100001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6,900.00 y 7 movimientos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Depósito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00100001 · 100.50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Saldo 7,000.50 · mov. 003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Saldo insuficiente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Retiro 50000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REGLA_NEGOCIO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Cuenta cancelada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Retiro 00300001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«no está activa (CANCELADO)»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Transferencia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00200001 → 00200002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Mov. 009 y 008 enlazados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Monedas distintas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00100001 → 00100002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«misma moneda»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Sin token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consultarCuenta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SESION_INVALIDA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Monitor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4 clientes operando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Conteo por X-Cliente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Cambiar servidor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URL completa en la IP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</a:rPr>
                        <a:t>Conecta igual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3" name="Insignia 1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9202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API REST es el único que accede a SQL Server: cuatro plataformas comparten los mismos datos y reglas.</a:t>
            </a:r>
            <a:endParaRPr lang="en-US" sz="2100" dirty="0"/>
          </a:p>
        </p:txBody>
      </p:sp>
      <p:sp>
        <p:nvSpPr>
          <p:cNvPr id="6" name="Insignia 2"/>
          <p:cNvSpPr/>
          <p:nvPr/>
        </p:nvSpPr>
        <p:spPr>
          <a:xfrm>
            <a:off x="731520" y="3063240"/>
            <a:ext cx="640080" cy="64008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9718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transacciones con UPDLOCK mantienen el saldo igual a sus movimientos, incluso con operaciones simultáneas.</a:t>
            </a:r>
            <a:endParaRPr lang="en-US" sz="2100" dirty="0"/>
          </a:p>
        </p:txBody>
      </p:sp>
      <p:sp>
        <p:nvSpPr>
          <p:cNvPr id="9" name="Insignia 3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0233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HTTP con un JSON { codigo, mensaje } en español explican cada rechazo en los cuatro clientes.</a:t>
            </a:r>
            <a:endParaRPr lang="en-US" sz="2100" dirty="0"/>
          </a:p>
        </p:txBody>
      </p:sp>
      <p:sp>
        <p:nvSpPr>
          <p:cNvPr id="12" name="Insignia 4"/>
          <p:cNvSpPr/>
          <p:nvPr/>
        </p:nvSpPr>
        <p:spPr>
          <a:xfrm>
            <a:off x="731520" y="5166360"/>
            <a:ext cx="640080" cy="64008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50749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30 min, monitor por X-Cliente y panel con login dan seguridad y visibilidad sin tocar la base de datos.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ESPE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EurekaBank RESTful .NET con BDD</dc:title>
  <dc:subject>PptxGenJS Presentation</dc:subject>
  <dc:creator>Grupo 1</dc:creator>
  <cp:lastModifiedBy>Grupo 1</cp:lastModifiedBy>
  <cp:revision>1</cp:revision>
  <dcterms:created xsi:type="dcterms:W3CDTF">2026-11-01T22:27:56Z</dcterms:created>
  <dcterms:modified xsi:type="dcterms:W3CDTF">2026-11-01T22:27:56Z</dcterms:modified>
</cp:coreProperties>
</file>